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76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01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911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725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31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27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880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6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292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72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481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1D634-68AF-44E3-A0F8-4575AEA67B7C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66F82-225E-4B62-99BB-34BB084F7F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824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7432" y="2694486"/>
            <a:ext cx="5674829" cy="344815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28271" y="645281"/>
            <a:ext cx="88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遥控器</a:t>
            </a:r>
            <a:endParaRPr lang="zh-CN" altLang="en-US" sz="1400" dirty="0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3882059" y="809754"/>
            <a:ext cx="307284" cy="7289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851412" y="527760"/>
            <a:ext cx="569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usb</a:t>
            </a:r>
            <a:endParaRPr lang="zh-CN" altLang="en-US" sz="1400" dirty="0"/>
          </a:p>
        </p:txBody>
      </p:sp>
      <p:sp>
        <p:nvSpPr>
          <p:cNvPr id="9" name="文本框 8"/>
          <p:cNvSpPr txBox="1"/>
          <p:nvPr/>
        </p:nvSpPr>
        <p:spPr>
          <a:xfrm>
            <a:off x="2556844" y="642518"/>
            <a:ext cx="1294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电</a:t>
            </a:r>
            <a:r>
              <a:rPr lang="zh-CN" altLang="en-US" sz="1400" dirty="0" smtClean="0"/>
              <a:t>脑（上位机）</a:t>
            </a:r>
            <a:endParaRPr lang="zh-CN" alt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352261" y="1031942"/>
            <a:ext cx="1908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（</a:t>
            </a:r>
            <a:r>
              <a:rPr lang="zh-CN" altLang="en-US" sz="1400" dirty="0" smtClean="0"/>
              <a:t>运行</a:t>
            </a:r>
            <a:r>
              <a:rPr lang="en-US" altLang="zh-CN" sz="1400" dirty="0" smtClean="0"/>
              <a:t>QGC</a:t>
            </a:r>
            <a:r>
              <a:rPr lang="zh-CN" altLang="en-US" sz="1400" dirty="0" smtClean="0"/>
              <a:t>软件）</a:t>
            </a:r>
            <a:endParaRPr lang="zh-CN" altLang="en-US" sz="1400" dirty="0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1581979" y="847276"/>
            <a:ext cx="982317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519030" y="477081"/>
            <a:ext cx="1212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以太网线</a:t>
            </a:r>
            <a:endParaRPr lang="zh-CN" altLang="en-US" sz="1400" dirty="0"/>
          </a:p>
        </p:txBody>
      </p:sp>
      <p:sp>
        <p:nvSpPr>
          <p:cNvPr id="14" name="矩形 13"/>
          <p:cNvSpPr/>
          <p:nvPr/>
        </p:nvSpPr>
        <p:spPr>
          <a:xfrm>
            <a:off x="719758" y="581150"/>
            <a:ext cx="803413" cy="8026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块内</a:t>
            </a:r>
            <a:endParaRPr lang="zh-CN" altLang="en-US" sz="1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657639" y="642518"/>
            <a:ext cx="927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电</a:t>
            </a:r>
            <a:r>
              <a:rPr lang="zh-CN" altLang="en-US" sz="1400" dirty="0" smtClean="0"/>
              <a:t>力载波模块</a:t>
            </a:r>
            <a:endParaRPr lang="zh-CN" altLang="en-US" sz="1400" dirty="0"/>
          </a:p>
        </p:txBody>
      </p:sp>
      <p:sp>
        <p:nvSpPr>
          <p:cNvPr id="16" name="矩形 15"/>
          <p:cNvSpPr/>
          <p:nvPr/>
        </p:nvSpPr>
        <p:spPr>
          <a:xfrm>
            <a:off x="4422913" y="1273793"/>
            <a:ext cx="894522" cy="4041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4522305" y="1291223"/>
            <a:ext cx="795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电源</a:t>
            </a:r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260574" y="1954409"/>
            <a:ext cx="1726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水面显控单元</a:t>
            </a:r>
            <a:endParaRPr lang="zh-CN" altLang="en-US" sz="1400" dirty="0"/>
          </a:p>
        </p:txBody>
      </p:sp>
      <p:cxnSp>
        <p:nvCxnSpPr>
          <p:cNvPr id="20" name="直接箭头连接符 19"/>
          <p:cNvCxnSpPr/>
          <p:nvPr/>
        </p:nvCxnSpPr>
        <p:spPr>
          <a:xfrm flipH="1" flipV="1">
            <a:off x="1131403" y="1586523"/>
            <a:ext cx="7455" cy="6457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1581979" y="2504661"/>
            <a:ext cx="319708" cy="21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863461" y="2346491"/>
            <a:ext cx="718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脐带缆</a:t>
            </a:r>
            <a:endParaRPr lang="zh-CN" altLang="en-US" sz="1400" dirty="0"/>
          </a:p>
        </p:txBody>
      </p:sp>
      <p:sp>
        <p:nvSpPr>
          <p:cNvPr id="24" name="矩形 23"/>
          <p:cNvSpPr/>
          <p:nvPr/>
        </p:nvSpPr>
        <p:spPr>
          <a:xfrm>
            <a:off x="553278" y="504476"/>
            <a:ext cx="4979505" cy="175197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6" name="文本框 25"/>
          <p:cNvSpPr txBox="1"/>
          <p:nvPr/>
        </p:nvSpPr>
        <p:spPr>
          <a:xfrm>
            <a:off x="1901687" y="2352893"/>
            <a:ext cx="955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电源管理</a:t>
            </a:r>
            <a:endParaRPr lang="zh-CN" altLang="en-US" sz="1400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360542" y="2648008"/>
            <a:ext cx="5799" cy="321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958834" y="2984373"/>
            <a:ext cx="898665" cy="5318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块内</a:t>
            </a:r>
            <a:endParaRPr lang="zh-CN" altLang="en-US" sz="1400" dirty="0"/>
          </a:p>
        </p:txBody>
      </p:sp>
      <p:sp>
        <p:nvSpPr>
          <p:cNvPr id="30" name="文本框 29"/>
          <p:cNvSpPr txBox="1"/>
          <p:nvPr/>
        </p:nvSpPr>
        <p:spPr>
          <a:xfrm>
            <a:off x="1937714" y="3085345"/>
            <a:ext cx="927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电</a:t>
            </a:r>
            <a:r>
              <a:rPr lang="zh-CN" altLang="en-US" sz="1100" dirty="0" smtClean="0"/>
              <a:t>力载波模块</a:t>
            </a:r>
            <a:endParaRPr lang="zh-CN" altLang="en-US" sz="1100" dirty="0"/>
          </a:p>
        </p:txBody>
      </p:sp>
      <p:sp>
        <p:nvSpPr>
          <p:cNvPr id="31" name="文本框 30"/>
          <p:cNvSpPr txBox="1"/>
          <p:nvPr/>
        </p:nvSpPr>
        <p:spPr>
          <a:xfrm>
            <a:off x="2430532" y="3512033"/>
            <a:ext cx="364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/>
              <a:t>以太网线</a:t>
            </a:r>
            <a:endParaRPr lang="zh-CN" altLang="en-US" sz="800" dirty="0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2367585" y="3516232"/>
            <a:ext cx="0" cy="496956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1958834" y="4096808"/>
            <a:ext cx="772769" cy="3217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034209" y="4119186"/>
            <a:ext cx="6973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树莓派</a:t>
            </a:r>
            <a:endParaRPr lang="zh-CN" altLang="en-US" sz="1200" dirty="0"/>
          </a:p>
        </p:txBody>
      </p:sp>
      <p:cxnSp>
        <p:nvCxnSpPr>
          <p:cNvPr id="45" name="直接箭头连接符 44"/>
          <p:cNvCxnSpPr/>
          <p:nvPr/>
        </p:nvCxnSpPr>
        <p:spPr>
          <a:xfrm flipH="1" flipV="1">
            <a:off x="2365927" y="4452380"/>
            <a:ext cx="13666" cy="39848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2355571" y="4468497"/>
            <a:ext cx="489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usb</a:t>
            </a:r>
            <a:endParaRPr lang="zh-CN" altLang="en-US" sz="1400" dirty="0"/>
          </a:p>
        </p:txBody>
      </p:sp>
      <p:sp>
        <p:nvSpPr>
          <p:cNvPr id="50" name="矩形 49"/>
          <p:cNvSpPr/>
          <p:nvPr/>
        </p:nvSpPr>
        <p:spPr>
          <a:xfrm>
            <a:off x="1519030" y="4906598"/>
            <a:ext cx="1234939" cy="3217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1519336" y="4963978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 smtClean="0"/>
              <a:t>Pixhawk2.4.8</a:t>
            </a:r>
            <a:r>
              <a:rPr lang="zh-CN" altLang="en-US" sz="1100" dirty="0"/>
              <a:t>飞控</a:t>
            </a: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2845485" y="4257685"/>
            <a:ext cx="3586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3277019" y="4099428"/>
            <a:ext cx="772769" cy="3217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3306417" y="409089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摄像头</a:t>
            </a:r>
            <a:endParaRPr lang="zh-CN" altLang="en-US" sz="1400" dirty="0"/>
          </a:p>
        </p:txBody>
      </p:sp>
      <p:cxnSp>
        <p:nvCxnSpPr>
          <p:cNvPr id="58" name="直接连接符 57"/>
          <p:cNvCxnSpPr>
            <a:stCxn id="51" idx="3"/>
          </p:cNvCxnSpPr>
          <p:nvPr/>
        </p:nvCxnSpPr>
        <p:spPr>
          <a:xfrm>
            <a:off x="2753969" y="5094783"/>
            <a:ext cx="5168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3270817" y="4708282"/>
            <a:ext cx="6202" cy="9581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3270817" y="4708282"/>
            <a:ext cx="3271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619709" y="4608887"/>
            <a:ext cx="638379" cy="2218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3581611" y="4581333"/>
            <a:ext cx="823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ESC</a:t>
            </a:r>
            <a:r>
              <a:rPr lang="zh-CN" altLang="en-US" sz="1200" dirty="0" smtClean="0"/>
              <a:t>电调</a:t>
            </a:r>
            <a:endParaRPr lang="zh-CN" altLang="en-US" sz="1200" dirty="0"/>
          </a:p>
        </p:txBody>
      </p:sp>
      <p:cxnSp>
        <p:nvCxnSpPr>
          <p:cNvPr id="66" name="直接连接符 65"/>
          <p:cNvCxnSpPr/>
          <p:nvPr/>
        </p:nvCxnSpPr>
        <p:spPr>
          <a:xfrm>
            <a:off x="4263881" y="4708282"/>
            <a:ext cx="2584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4533485" y="4547404"/>
            <a:ext cx="1526920" cy="3217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4533484" y="4581333"/>
            <a:ext cx="16768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T200</a:t>
            </a:r>
            <a:r>
              <a:rPr lang="zh-CN" altLang="en-US" sz="1200" dirty="0" smtClean="0"/>
              <a:t>推进器无刷电机</a:t>
            </a:r>
            <a:endParaRPr lang="zh-CN" altLang="en-US" sz="1200" dirty="0"/>
          </a:p>
        </p:txBody>
      </p:sp>
      <p:cxnSp>
        <p:nvCxnSpPr>
          <p:cNvPr id="70" name="直接连接符 69"/>
          <p:cNvCxnSpPr/>
          <p:nvPr/>
        </p:nvCxnSpPr>
        <p:spPr>
          <a:xfrm>
            <a:off x="3261076" y="5211658"/>
            <a:ext cx="5168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3780532" y="5107357"/>
            <a:ext cx="711601" cy="2206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块内</a:t>
            </a:r>
            <a:endParaRPr lang="zh-CN" altLang="en-US" sz="1400" dirty="0"/>
          </a:p>
        </p:txBody>
      </p:sp>
      <p:sp>
        <p:nvSpPr>
          <p:cNvPr id="73" name="文本框 72"/>
          <p:cNvSpPr txBox="1"/>
          <p:nvPr/>
        </p:nvSpPr>
        <p:spPr>
          <a:xfrm>
            <a:off x="3793867" y="508708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照明灯</a:t>
            </a:r>
            <a:endParaRPr lang="zh-CN" altLang="en-US" sz="1200" dirty="0"/>
          </a:p>
        </p:txBody>
      </p:sp>
      <p:cxnSp>
        <p:nvCxnSpPr>
          <p:cNvPr id="74" name="直接连接符 73"/>
          <p:cNvCxnSpPr/>
          <p:nvPr/>
        </p:nvCxnSpPr>
        <p:spPr>
          <a:xfrm>
            <a:off x="3277019" y="5666449"/>
            <a:ext cx="5168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3793867" y="5542672"/>
            <a:ext cx="711601" cy="2206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块内</a:t>
            </a:r>
            <a:endParaRPr lang="zh-CN" altLang="en-US" sz="1400" dirty="0"/>
          </a:p>
        </p:txBody>
      </p:sp>
      <p:sp>
        <p:nvSpPr>
          <p:cNvPr id="76" name="文本框 75"/>
          <p:cNvSpPr txBox="1"/>
          <p:nvPr/>
        </p:nvSpPr>
        <p:spPr>
          <a:xfrm>
            <a:off x="3723249" y="5513154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深度</a:t>
            </a:r>
            <a:r>
              <a:rPr lang="zh-CN" altLang="en-US" sz="1100" dirty="0" smtClean="0"/>
              <a:t>传感器</a:t>
            </a:r>
            <a:endParaRPr lang="zh-CN" altLang="en-US" sz="1100" dirty="0"/>
          </a:p>
        </p:txBody>
      </p:sp>
      <p:sp>
        <p:nvSpPr>
          <p:cNvPr id="77" name="文本框 76"/>
          <p:cNvSpPr txBox="1"/>
          <p:nvPr/>
        </p:nvSpPr>
        <p:spPr>
          <a:xfrm>
            <a:off x="4613236" y="5772585"/>
            <a:ext cx="1782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水下控制单元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6601239" y="477081"/>
            <a:ext cx="3092727" cy="175197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9" name="文本框 78"/>
          <p:cNvSpPr txBox="1"/>
          <p:nvPr/>
        </p:nvSpPr>
        <p:spPr>
          <a:xfrm>
            <a:off x="7314371" y="719462"/>
            <a:ext cx="172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机械臂遥控器</a:t>
            </a:r>
            <a:endParaRPr lang="zh-CN" altLang="en-US" dirty="0"/>
          </a:p>
        </p:txBody>
      </p:sp>
      <p:cxnSp>
        <p:nvCxnSpPr>
          <p:cNvPr id="80" name="直接箭头连接符 79"/>
          <p:cNvCxnSpPr/>
          <p:nvPr/>
        </p:nvCxnSpPr>
        <p:spPr>
          <a:xfrm flipH="1" flipV="1">
            <a:off x="8068917" y="1088794"/>
            <a:ext cx="12010" cy="13414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8080927" y="1273793"/>
            <a:ext cx="70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usb</a:t>
            </a:r>
            <a:endParaRPr lang="zh-CN" altLang="en-US" dirty="0"/>
          </a:p>
        </p:txBody>
      </p:sp>
      <p:sp>
        <p:nvSpPr>
          <p:cNvPr id="86" name="矩形 85"/>
          <p:cNvSpPr/>
          <p:nvPr/>
        </p:nvSpPr>
        <p:spPr>
          <a:xfrm>
            <a:off x="6833782" y="2649240"/>
            <a:ext cx="4437192" cy="397684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7700340" y="2850381"/>
            <a:ext cx="1440467" cy="5090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9" name="文本框 88"/>
          <p:cNvSpPr txBox="1"/>
          <p:nvPr/>
        </p:nvSpPr>
        <p:spPr>
          <a:xfrm>
            <a:off x="7633663" y="2931456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Stm32</a:t>
            </a:r>
            <a:r>
              <a:rPr lang="zh-CN" altLang="en-US" dirty="0" smtClean="0"/>
              <a:t>单片机</a:t>
            </a:r>
            <a:endParaRPr lang="zh-CN" altLang="en-US" dirty="0"/>
          </a:p>
        </p:txBody>
      </p:sp>
      <p:cxnSp>
        <p:nvCxnSpPr>
          <p:cNvPr id="91" name="直接箭头连接符 90"/>
          <p:cNvCxnSpPr/>
          <p:nvPr/>
        </p:nvCxnSpPr>
        <p:spPr>
          <a:xfrm flipH="1" flipV="1">
            <a:off x="9202808" y="3179659"/>
            <a:ext cx="564044" cy="86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9227301" y="281145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can</a:t>
            </a:r>
            <a:endParaRPr lang="zh-CN" altLang="en-US" dirty="0"/>
          </a:p>
        </p:txBody>
      </p:sp>
      <p:sp>
        <p:nvSpPr>
          <p:cNvPr id="94" name="矩形 93"/>
          <p:cNvSpPr/>
          <p:nvPr/>
        </p:nvSpPr>
        <p:spPr>
          <a:xfrm>
            <a:off x="9808304" y="2955235"/>
            <a:ext cx="992218" cy="4041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5" name="文本框 94"/>
          <p:cNvSpPr txBox="1"/>
          <p:nvPr/>
        </p:nvSpPr>
        <p:spPr>
          <a:xfrm>
            <a:off x="9766852" y="29726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微动电机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9533193" y="3365714"/>
            <a:ext cx="1575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（实现左右</a:t>
            </a:r>
            <a:r>
              <a:rPr lang="zh-CN" altLang="en-US" sz="1200" dirty="0"/>
              <a:t>上</a:t>
            </a:r>
            <a:r>
              <a:rPr lang="zh-CN" altLang="en-US" sz="1200" dirty="0" smtClean="0"/>
              <a:t>下微调）</a:t>
            </a:r>
            <a:endParaRPr lang="zh-CN" altLang="en-US" sz="1200" dirty="0"/>
          </a:p>
        </p:txBody>
      </p:sp>
      <p:cxnSp>
        <p:nvCxnSpPr>
          <p:cNvPr id="97" name="直接箭头连接符 96"/>
          <p:cNvCxnSpPr/>
          <p:nvPr/>
        </p:nvCxnSpPr>
        <p:spPr>
          <a:xfrm flipV="1">
            <a:off x="8222974" y="3440501"/>
            <a:ext cx="3314" cy="76639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8249480" y="359494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can</a:t>
            </a:r>
            <a:endParaRPr lang="zh-CN" altLang="en-US" dirty="0"/>
          </a:p>
        </p:txBody>
      </p:sp>
      <p:sp>
        <p:nvSpPr>
          <p:cNvPr id="100" name="矩形 99"/>
          <p:cNvSpPr/>
          <p:nvPr/>
        </p:nvSpPr>
        <p:spPr>
          <a:xfrm>
            <a:off x="7926314" y="5077473"/>
            <a:ext cx="784898" cy="423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01" name="文本框 100"/>
          <p:cNvSpPr txBox="1"/>
          <p:nvPr/>
        </p:nvSpPr>
        <p:spPr>
          <a:xfrm>
            <a:off x="7926314" y="42677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电调</a:t>
            </a:r>
          </a:p>
        </p:txBody>
      </p:sp>
      <p:cxnSp>
        <p:nvCxnSpPr>
          <p:cNvPr id="102" name="直接箭头连接符 101"/>
          <p:cNvCxnSpPr/>
          <p:nvPr/>
        </p:nvCxnSpPr>
        <p:spPr>
          <a:xfrm>
            <a:off x="8231470" y="4735597"/>
            <a:ext cx="5799" cy="321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7857030" y="4254453"/>
            <a:ext cx="784898" cy="423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04" name="文本框 103"/>
          <p:cNvSpPr txBox="1"/>
          <p:nvPr/>
        </p:nvSpPr>
        <p:spPr>
          <a:xfrm>
            <a:off x="7926729" y="509952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电机</a:t>
            </a:r>
            <a:endParaRPr lang="zh-CN" altLang="en-US" dirty="0"/>
          </a:p>
        </p:txBody>
      </p:sp>
      <p:cxnSp>
        <p:nvCxnSpPr>
          <p:cNvPr id="107" name="直接连接符 106"/>
          <p:cNvCxnSpPr/>
          <p:nvPr/>
        </p:nvCxnSpPr>
        <p:spPr>
          <a:xfrm>
            <a:off x="8261308" y="5508351"/>
            <a:ext cx="0" cy="2907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7665554" y="5793719"/>
            <a:ext cx="1371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7692044" y="5788357"/>
            <a:ext cx="8296" cy="3706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flipH="1">
            <a:off x="9004300" y="5812474"/>
            <a:ext cx="7495" cy="3294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7273105" y="6171830"/>
            <a:ext cx="784898" cy="423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4" name="矩形 123"/>
          <p:cNvSpPr/>
          <p:nvPr/>
        </p:nvSpPr>
        <p:spPr>
          <a:xfrm>
            <a:off x="8641928" y="6149423"/>
            <a:ext cx="784898" cy="423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5" name="文本框 124"/>
          <p:cNvSpPr txBox="1"/>
          <p:nvPr/>
        </p:nvSpPr>
        <p:spPr>
          <a:xfrm>
            <a:off x="7360276" y="6197189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捶打 </a:t>
            </a:r>
            <a:endParaRPr lang="zh-CN" altLang="en-US" dirty="0"/>
          </a:p>
        </p:txBody>
      </p:sp>
      <p:sp>
        <p:nvSpPr>
          <p:cNvPr id="126" name="文本框 125"/>
          <p:cNvSpPr txBox="1"/>
          <p:nvPr/>
        </p:nvSpPr>
        <p:spPr>
          <a:xfrm>
            <a:off x="8684881" y="61793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喷涂</a:t>
            </a:r>
            <a:endParaRPr lang="zh-CN" altLang="en-US" dirty="0"/>
          </a:p>
        </p:txBody>
      </p:sp>
      <p:sp>
        <p:nvSpPr>
          <p:cNvPr id="127" name="文本框 126"/>
          <p:cNvSpPr txBox="1"/>
          <p:nvPr/>
        </p:nvSpPr>
        <p:spPr>
          <a:xfrm>
            <a:off x="8654499" y="1576752"/>
            <a:ext cx="1251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机械臂控制单元</a:t>
            </a:r>
            <a:endParaRPr lang="zh-CN" altLang="en-US" dirty="0"/>
          </a:p>
        </p:txBody>
      </p:sp>
      <p:sp>
        <p:nvSpPr>
          <p:cNvPr id="128" name="文本框 127"/>
          <p:cNvSpPr txBox="1"/>
          <p:nvPr/>
        </p:nvSpPr>
        <p:spPr>
          <a:xfrm>
            <a:off x="9879749" y="5928410"/>
            <a:ext cx="1391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水下机械臂控制单元</a:t>
            </a:r>
            <a:endParaRPr lang="zh-CN" altLang="en-US" dirty="0"/>
          </a:p>
        </p:txBody>
      </p:sp>
      <p:cxnSp>
        <p:nvCxnSpPr>
          <p:cNvPr id="129" name="直接连接符 128"/>
          <p:cNvCxnSpPr/>
          <p:nvPr/>
        </p:nvCxnSpPr>
        <p:spPr>
          <a:xfrm>
            <a:off x="2744228" y="2500379"/>
            <a:ext cx="5336699" cy="64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>
            <a:off x="8085896" y="2382719"/>
            <a:ext cx="48806" cy="4623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106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147</Words>
  <Application>Microsoft Office PowerPoint</Application>
  <PresentationFormat>宽屏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HS</dc:creator>
  <cp:lastModifiedBy>HS</cp:lastModifiedBy>
  <cp:revision>5</cp:revision>
  <dcterms:created xsi:type="dcterms:W3CDTF">2026-04-02T15:20:19Z</dcterms:created>
  <dcterms:modified xsi:type="dcterms:W3CDTF">2026-04-02T15:47:56Z</dcterms:modified>
</cp:coreProperties>
</file>